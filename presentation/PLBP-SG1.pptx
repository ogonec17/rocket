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aesa.tech/documentation" TargetMode="External"/><Relationship Id="rId4" Type="http://schemas.openxmlformats.org/officeDocument/2006/relationships/hyperlink" Target="https://aerotech-rocketry.com/pages/catalogs-brochures" TargetMode="External"/><Relationship Id="rId5" Type="http://schemas.openxmlformats.org/officeDocument/2006/relationships/hyperlink" Target="https://ntrs.nasa.gov/citations/2001004783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ПРЕДВАРИТЕЛЬНОЕ ПРОЕКТИРОВАНИЕ / A04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Ревизия A04 · 30 сентября 2026 · цифровой прототип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01 /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8183879"/>
            <a:ext cx="1125415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103120"/>
            <a:ext cx="9601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8700" b="1">
                <a:solidFill>
                  <a:srgbClr val="F4F1E9"/>
                </a:solidFill>
                <a:latin typeface="Noto Sans"/>
              </a:defRPr>
            </a:pPr>
            <a:r>
              <a:t>PLBP–SG1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85876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000" b="0">
                <a:solidFill>
                  <a:srgbClr val="F4F1E9"/>
                </a:solidFill>
                <a:latin typeface="Noto Sans"/>
              </a:defRPr>
            </a:pPr>
            <a:r>
              <a:t>Ракета для лиги «Супер ГИРД»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321808"/>
            <a:ext cx="36576" cy="69494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340096"/>
            <a:ext cx="8686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400" b="0">
                <a:solidFill>
                  <a:srgbClr val="AFBDC0"/>
                </a:solidFill>
                <a:latin typeface="Noto Sans"/>
              </a:defRPr>
            </a:pPr>
            <a:r>
              <a:t>1,5 кг полезной нагрузки. Проверяемый цифровой проект.</a:t>
            </a:r>
          </a:p>
        </p:txBody>
      </p:sp>
      <p:sp>
        <p:nvSpPr>
          <p:cNvPr id="28" name="Oval 27"/>
          <p:cNvSpPr/>
          <p:nvPr/>
        </p:nvSpPr>
        <p:spPr>
          <a:xfrm>
            <a:off x="10424160" y="2157984"/>
            <a:ext cx="3474720" cy="3474720"/>
          </a:xfrm>
          <a:prstGeom prst="ellipse">
            <a:avLst/>
          </a:prstGeom>
          <a:noFill/>
          <a:ln w="8890">
            <a:solidFill>
              <a:srgbClr val="354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000232" y="2734056"/>
            <a:ext cx="2322576" cy="2322576"/>
          </a:xfrm>
          <a:prstGeom prst="ellipse">
            <a:avLst/>
          </a:prstGeom>
          <a:noFill/>
          <a:ln w="8890">
            <a:solidFill>
              <a:srgbClr val="354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58400" y="3877056"/>
            <a:ext cx="4206240" cy="1097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52376" y="1810512"/>
            <a:ext cx="10972" cy="420624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3593592"/>
            <a:ext cx="2048256" cy="640080"/>
          </a:xfrm>
          <a:prstGeom prst="rect">
            <a:avLst/>
          </a:prstGeom>
          <a:solidFill>
            <a:srgbClr val="1017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47120" y="36850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600" b="1">
                <a:solidFill>
                  <a:srgbClr val="FF793F"/>
                </a:solidFill>
                <a:latin typeface="Noto Sans"/>
              </a:defRPr>
            </a:pPr>
            <a:r>
              <a:t>SG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01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Три результата одного полёта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Конкурсная база: XV сезон 2025–2026. Условия нового сезона предстоит подтвердить.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02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225083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≥ 1 км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Выведение макета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Порог из опубликованного ТЗ XV сезона.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5504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31536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Возврат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1536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Носитель и макет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1536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Отдельная проверка каждой системы спасения.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8672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Данные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2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Борт + земля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48672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Измерения, события и сопоставление журналов.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02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Макет — это полезная 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Расхождение источников открыто. Габарит макета 1,5 кг требует подтверждения.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03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3376246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1,5 кг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Основной проектный вариант по странице чемпионата ВИШ.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1,0 кг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В опубликованном PDF XV: Ø84×220 вместе с парашютом.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Без лимита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Масса самой ракеты не ограничена: ТЗ, п. 1.1.1.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03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Первая параметрическая ракета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FreeCAD A04 · длина 1,57 м · корпус Ø100 мм · три неподвижных стабилизатора.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04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4501661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ad-exter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494" y="2395728"/>
            <a:ext cx="11833411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04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Внутренние объёмы уже размещены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Корпус скрыт для просмотра. Электроника и парашют представлены условными габаритами.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05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5627076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ad-cuta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494" y="2395728"/>
            <a:ext cx="11833411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05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Размеры и интерфейсы зафиксированы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Компоновочная схема A04. Рабочие чертежи с допусками и силовыми соединениями ещё не выпущены.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06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6752492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239572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06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Центровка с нагрузкой 1,5 кг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При контрольном макете 1 кг: CG 984 мм, запас 1,845 D. Геометрия одинакова.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07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7877907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CG: 940 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Центр массы старта от вершины.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CP: 1169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Линейная низкоскоростная оценка.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Запас: 2,285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Флаттер и динамика ещё не проверены.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07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Высота: первая оценка чувствительности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Основной макет 1,5 кг: 1,24–1,66 км при трёх принятых Cd. Это расчётная оценка.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08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9003323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s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2395728"/>
            <a:ext cx="9656064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08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Модульная конструкция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A04: последовательность отсеков задана. Крепления, разделение и обслуживание требуют разработки.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09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0128738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697480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697480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3035808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2971800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Учебный макет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8528" y="3602736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Собственная система спасения.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2697480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52360" y="2697480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9248" y="3035808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71800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Возврат носителя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3602736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Спасение и обслуживаемые крепления.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544568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4544568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" y="4882896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8528" y="4818888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Бортовая система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8528" y="5449824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Измерения, запись, радио, самописец.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2360" y="4544568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52360" y="4544568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99248" y="4882896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4818888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Двигательный модуль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20" y="5449824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Справочный интерфейс Ø54 × 358 мм.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09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1,5 кг нагрузки → 5,787 кг на старте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Общая масса по ТЗ не ограничена. Шкала до 6 кг. Масса расчётная, не измеренная.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10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1254153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7889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700" b="1">
                <a:solidFill>
                  <a:srgbClr val="F4F1E9"/>
                </a:solidFill>
                <a:latin typeface="Noto Sans"/>
              </a:defRPr>
            </a:pPr>
            <a:r>
              <a:t>Контрольный макет 1,0 кг — PDF ТЗ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633472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5,287 кг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547872"/>
            <a:ext cx="13167360" cy="310896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547872"/>
            <a:ext cx="11602638" cy="310896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23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000" b="0">
                <a:solidFill>
                  <a:srgbClr val="AFBDC0"/>
                </a:solidFill>
                <a:latin typeface="Noto Sans"/>
              </a:defRPr>
            </a:pPr>
            <a:r>
              <a:t>Полная стартовая масса; лимит по ТЗ не установлен.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7091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700" b="1">
                <a:solidFill>
                  <a:srgbClr val="F4F1E9"/>
                </a:solidFill>
                <a:latin typeface="Noto Sans"/>
              </a:defRPr>
            </a:pPr>
            <a:r>
              <a:t>Основной макет 1,5 кг — проект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4553712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5,787 кг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468112"/>
            <a:ext cx="13167360" cy="310896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5468112"/>
            <a:ext cx="12699918" cy="310896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9436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000" b="0">
                <a:solidFill>
                  <a:srgbClr val="AFBDC0"/>
                </a:solidFill>
                <a:latin typeface="Noto Sans"/>
              </a:defRPr>
            </a:pPr>
            <a:r>
              <a:t>Полная стартовая масса; лимит по ТЗ не установлен.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10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Материалы и честное облегчение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MassAudit и просмотрщик раскрывают каждую массу. Подтверждённая экономия без потерь: 0 г.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11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2379569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Стеклопластик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1850 кг/м³ — принятая плотность. Марка и укладка открыты.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Полимер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1270 кг/м³ — допущение для обтекателя.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−630 г условно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Варианты стенок, материала и плат; без проверки не применены.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11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Что подтверждено на этой итерации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24 тела; стабилизаторы видны после повторного открытия в FreeCAD. Физических испытаний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12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3504984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654253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6542532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608533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Сделано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6085332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CAD A04, материалы, STEP и просмотр.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GUI, ведомость и предварительные расчёты.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9500" y="2743200"/>
            <a:ext cx="654253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29500" y="2743200"/>
            <a:ext cx="6542532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58100" y="2971800"/>
            <a:ext cx="608533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Открыто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58100" y="3685032"/>
            <a:ext cx="6085332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Рабочие соединения и компоненты.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Прочность, стенды и полёт.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ИСТОЧНИКИ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Основания и допущения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Официальные документы ВИШ и источники расчётных данных. Проверено 30.09.2026.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13 / 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46304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ВИШ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Полное положение и приложения 1–7; ТЗ СГ.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3"/>
              </a:rPr>
              <a:t>https://aesa.tech/documentation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5504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04104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AeroTech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4104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Размеры, масса и график справочного двигателя.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4104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4"/>
              </a:rPr>
              <a:t>https://aerotech-rocketry.com/pages/catalogs-brochures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NASA / Barrowman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Метод линейной оценки и ограничения применимости.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5"/>
              </a:rPr>
              <a:t>https://ntrs.nasa.gov/citations/20010047838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9D73"/>
      </a:hlink>
      <a:folHlink>
        <a:srgbClr val="FF9D7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PLBP-SG1 A04 — проектирование ракеты «Супер ГИРД»</dc:title>
  <dc:subject>Предварительная CAD-компоновка, расчёты и план проверки</dc:subject>
  <dc:creator>Команда PLBP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