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hyperlink" Target="https://aesa.tech/documentation" TargetMode="External"/><Relationship Id="rId4" Type="http://schemas.openxmlformats.org/officeDocument/2006/relationships/hyperlink" Target="https://aerotech-rocketry.com/pages/catalogs-brochures" TargetMode="External"/><Relationship Id="rId5" Type="http://schemas.openxmlformats.org/officeDocument/2006/relationships/hyperlink" Target="https://ntrs.nasa.gov/citations/20010047838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ПРЕДВАРИТЕЛЬНОЕ ПРОЕКТИРОВАНИЕ / A04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Ревизия A04 · 30 сентября 2026 · цифровой прототип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01 / 21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8183879"/>
            <a:ext cx="696685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2103120"/>
            <a:ext cx="9601200" cy="1508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8700" b="1">
                <a:solidFill>
                  <a:srgbClr val="F4F1E9"/>
                </a:solidFill>
                <a:latin typeface="Noto Sans"/>
              </a:defRPr>
            </a:pPr>
            <a:r>
              <a:t>PLBP–SG1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3858768"/>
            <a:ext cx="96012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000" b="0">
                <a:solidFill>
                  <a:srgbClr val="F4F1E9"/>
                </a:solidFill>
                <a:latin typeface="Noto Sans"/>
              </a:defRPr>
            </a:pPr>
            <a:r>
              <a:t>Ракета для лиги «Супер ГИРД»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321808"/>
            <a:ext cx="36576" cy="69494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50976" y="5340096"/>
            <a:ext cx="86868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400" b="0">
                <a:solidFill>
                  <a:srgbClr val="AFBDC0"/>
                </a:solidFill>
                <a:latin typeface="Noto Sans"/>
              </a:defRPr>
            </a:pPr>
            <a:r>
              <a:t>1,5 кг полезной нагрузки. Проверяемый цифровой проект.</a:t>
            </a:r>
          </a:p>
        </p:txBody>
      </p:sp>
      <p:sp>
        <p:nvSpPr>
          <p:cNvPr id="28" name="Oval 27"/>
          <p:cNvSpPr/>
          <p:nvPr/>
        </p:nvSpPr>
        <p:spPr>
          <a:xfrm>
            <a:off x="10424160" y="2157984"/>
            <a:ext cx="3474720" cy="3474720"/>
          </a:xfrm>
          <a:prstGeom prst="ellipse">
            <a:avLst/>
          </a:prstGeom>
          <a:noFill/>
          <a:ln w="8890">
            <a:solidFill>
              <a:srgbClr val="354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1000232" y="2734056"/>
            <a:ext cx="2322576" cy="2322576"/>
          </a:xfrm>
          <a:prstGeom prst="ellipse">
            <a:avLst/>
          </a:prstGeom>
          <a:noFill/>
          <a:ln w="8890">
            <a:solidFill>
              <a:srgbClr val="35434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58400" y="3877056"/>
            <a:ext cx="4206240" cy="1097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2152376" y="1810512"/>
            <a:ext cx="10972" cy="420624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137392" y="3593592"/>
            <a:ext cx="2048256" cy="640080"/>
          </a:xfrm>
          <a:prstGeom prst="rect">
            <a:avLst/>
          </a:prstGeom>
          <a:solidFill>
            <a:srgbClr val="1017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247120" y="3685032"/>
            <a:ext cx="1920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600" b="1">
                <a:solidFill>
                  <a:srgbClr val="FF793F"/>
                </a:solidFill>
                <a:latin typeface="Noto Sans"/>
              </a:defRPr>
            </a:pPr>
            <a:r>
              <a:t>SG /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01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Три результата одного полёта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Конкурсная база: XV сезон 2025–2026. Условия нового сезона предстоит подтвердить.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02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393371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≥ 1 км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Выведение макета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Порог из опубликованного ТЗ XV сезона.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5504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31536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Возврат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1536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Носитель и макет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31536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Отдельная проверка каждой системы спасения.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743200"/>
            <a:ext cx="4279392" cy="3511296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48672" y="3090672"/>
            <a:ext cx="3767328" cy="1143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800" b="1">
                <a:solidFill>
                  <a:srgbClr val="FF793F"/>
                </a:solidFill>
                <a:latin typeface="Noto Sans"/>
              </a:defRPr>
            </a:pPr>
            <a:r>
              <a:t>Данные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48672" y="4480560"/>
            <a:ext cx="3767328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Борт + земля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48672" y="5257800"/>
            <a:ext cx="3767328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Измерения, события и сопоставление журналов.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02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Макет — это полезная нагрузка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Расхождение источников открыто. Габарит макета 1,5 кг требует подтверждения.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03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2090057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1,5 кг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Основной проектный вариант по странице чемпионата ВИШ.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1,0 кг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В опубликованном PDF XV: Ø84×220 вместе с парашютом.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Без лимита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Масса самой ракеты не ограничена: ТЗ, п. 1.1.1.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03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Первая параметрическая ракета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FreeCAD A04 · длина 1,57 м · корпус Ø100 мм · три неподвижных стабилизатора.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04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2786742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ad-exter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494" y="2395728"/>
            <a:ext cx="11833411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04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Внутренние объёмы уже размещены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Корпус скрыт для просмотра. Электроника и парашют представлены условными габаритами.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05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3483428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ad-cutawa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494" y="2395728"/>
            <a:ext cx="11833411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05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Размеры и интерфейсы зафиксированы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Компоновочная схема A04. Рабочие чертежи с допусками и силовыми соединениями ещё не выпущены.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06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4180114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lay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88920" y="2395728"/>
            <a:ext cx="90525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06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Центровка с нагрузкой 1,5 кг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CP зависит от скорости и угла атаки. Ручная низкоскоростная оценка: 1169 мм.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07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48768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CG: 940 мм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Центр массы старта от вершины.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CP: 1169 мм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OpenRocket: M=0,05; угол атаки 0°.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Запас: 2,285 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Статическая оценка; флаттер не проверен.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07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1D: влияние принятого Cd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Основной макет 1,5 кг: 1,24–1,66 км при трёх принятых Cd. Это расчётная оценка.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08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5573485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asc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7168" y="2395728"/>
            <a:ext cx="9656064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OPENROCKET / OR01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OpenRocket: пять тестовых сценариев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Штиль: 1514 м. Ветер и направляющая — тестовые; расчёт заканчивается у апогея.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09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6270171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or-f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799" y="2395728"/>
            <a:ext cx="1173480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OPENROCKET / OR01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Центровка и давление в полёте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CG: 940 → 874 мм. Max q: 26,48 кПа. Карта давлений и прочность ещё не рассчитаны.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10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6966857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or-balance-press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7799" y="2395728"/>
            <a:ext cx="1173480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OPENROCKET / OR01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Модель можно открыть и пересчитать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Шестистепенная модель жёсткого тела. Расчётная воспроизводимость не равна подтверждению полётом.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11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7663542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.ork + .rse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OpenRocket 24.12. Пять сохранённых сценариев, штатная остановка на апогее.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Проверка переноса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Масса и CG совпали с CAD. Проверены повторная загрузка и уменьшение шага.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Следующий шаг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Реальные массы, двигатель, ветер, направляющая; разработка отделения и спасения.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08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Модульная конструкция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A04: последовательность отсеков задана. Крепления, разделение и обслуживание требуют разработки.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12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8360228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697480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697480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5256" y="3035808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38528" y="2971800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Учебный макет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38528" y="3602736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Собственная система спасения.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52360" y="2697480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52360" y="2697480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99248" y="3035808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732520" y="2971800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Возврат носителя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32520" y="3602736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Спасение и обслуживаемые крепления.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4544568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58368" y="4544568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5256" y="4882896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38528" y="4818888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Бортовая система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8528" y="5449824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Измерения, запись, радио, самописец.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52360" y="4544568"/>
            <a:ext cx="6565392" cy="1627632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52360" y="4544568"/>
            <a:ext cx="36576" cy="1627632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699248" y="4882896"/>
            <a:ext cx="868680" cy="868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04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32520" y="4818888"/>
            <a:ext cx="4956048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Двигательный модуль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732520" y="5449824"/>
            <a:ext cx="4956048" cy="5760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800" b="0">
                <a:solidFill>
                  <a:srgbClr val="AFBDC0"/>
                </a:solidFill>
                <a:latin typeface="Noto Sans"/>
              </a:defRPr>
            </a:pPr>
            <a:r>
              <a:t>Справочный интерфейс Ø54 × 358 мм.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09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1,5 кг нагрузки → 5,787 кг на старте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Общая масса по ТЗ не ограничена. Шкала до 6 кг. Масса расчётная, не измеренная.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13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9056914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278892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700" b="1">
                <a:solidFill>
                  <a:srgbClr val="F4F1E9"/>
                </a:solidFill>
                <a:latin typeface="Noto Sans"/>
              </a:defRPr>
            </a:pPr>
            <a:r>
              <a:t>Контрольный макет 1,0 кг — PDF ТЗ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2633472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5,287 кг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3547872"/>
            <a:ext cx="13167360" cy="310896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" y="3547872"/>
            <a:ext cx="11602638" cy="310896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2336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000" b="0">
                <a:solidFill>
                  <a:srgbClr val="AFBDC0"/>
                </a:solidFill>
                <a:latin typeface="Noto Sans"/>
              </a:defRPr>
            </a:pPr>
            <a:r>
              <a:t>Полная стартовая масса; лимит по ТЗ не установлен.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709160"/>
            <a:ext cx="73152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700" b="1">
                <a:solidFill>
                  <a:srgbClr val="F4F1E9"/>
                </a:solidFill>
                <a:latin typeface="Noto Sans"/>
              </a:defRPr>
            </a:pPr>
            <a:r>
              <a:t>Основной макет 1,5 кг — проект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4553712"/>
            <a:ext cx="36576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4000" b="1">
                <a:solidFill>
                  <a:srgbClr val="FF793F"/>
                </a:solidFill>
                <a:latin typeface="Noto Sans"/>
              </a:defRPr>
            </a:pPr>
            <a:r>
              <a:t>5,787 кг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" y="5468112"/>
            <a:ext cx="13167360" cy="310896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5468112"/>
            <a:ext cx="12699918" cy="310896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943600"/>
            <a:ext cx="91440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000" b="0">
                <a:solidFill>
                  <a:srgbClr val="AFBDC0"/>
                </a:solidFill>
                <a:latin typeface="Noto Sans"/>
              </a:defRPr>
            </a:pPr>
            <a:r>
              <a:t>Полная стартовая масса; лимит по ТЗ не установлен.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10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Материалы и честное облегчение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MassAudit и просмотрщик раскрывают каждую массу. Подтверждённая экономия без потерь: 0 г.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14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97536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Стеклопластик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1850 кг/м³ — принятая плотность. Марка и укладка открыты.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Полимер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1270 кг/м³ — допущение для обтекателя.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−630 г условно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Варианты стенок, материала и плат; без проверки не применены.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11 / РЕЗУЛЬТАТЫ ПРОЕКТА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Что подтверждено на этой итерации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24 тела; стабилизаторы видны после повторного открытия в FreeCAD. Физических испытаний нет.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15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0450285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654253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6542532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608533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Сделано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6085332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CAD A04, материалы, STEP и просмотр.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GUI, ведомость и предварительные расчёты.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29500" y="2743200"/>
            <a:ext cx="654253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29500" y="2743200"/>
            <a:ext cx="6542532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58100" y="2971800"/>
            <a:ext cx="6085332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Открыто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58100" y="3685032"/>
            <a:ext cx="6085332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Рабочие соединения и компоненты.</a:t>
            </a:r>
          </a:p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Прочность, стенды и полёт.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OR02 / E01 · ИССЛЕДОВАНИЕ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Что влияет на расчётную высоту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OR02: 15 тестовых случаев, включая базу. Диапазоны допущений не являются вероятностными границами.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16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1146971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or02-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3581" y="2395728"/>
            <a:ext cx="8923237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OR02 / E01 · ИССЛЕДОВАНИЕ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Вариант креплений E01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Прибавка к A04: 51,9 г. Проверены геометрия и зазоры; прочность и удержание ещё не испытаны.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17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1843657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01-assembl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812" y="2395728"/>
            <a:ext cx="8486775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OR02 / E01 · ИССЛЕДОВАНИЕ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Самописец: защита и воздух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Полость 87×33×21 мм; максимальный прибор 85×31×19 мм. Ленты, прокладки и проводка ещё не выбраны.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18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2540342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e01-unders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1812" y="2395728"/>
            <a:ext cx="8486775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OR02 / E01 · ИССЛЕДОВАНИЕ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Измерению давления нужен стенд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τ = 0,02 / 0,1 / 0,5 с — допущения для сравнения, не измеренные характеристики самописца.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19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3237028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ressure-la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1619" y="2395728"/>
            <a:ext cx="11567160" cy="452628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OR02 / E01 · ИССЛЕДОВАНИЕ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Следующие узлы определены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Базовая A04 сохранена. E01 — примерочный вариант; OR02 оценивает чувствительность к его массе.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20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3933714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58368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Доступ к батарее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Спроектировать обслуживание в собранном корпусе и измерить время замены.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456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172456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01056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Удержание и соединения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1056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Крепление лотка, ленты, прокладки, проводка и стенд с массовыми макетами.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86544" y="2743200"/>
            <a:ext cx="4285488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686544" y="2743200"/>
            <a:ext cx="4285488" cy="32004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915144" y="2971800"/>
            <a:ext cx="3828288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300" b="1">
                <a:solidFill>
                  <a:srgbClr val="F4F1E9"/>
                </a:solidFill>
                <a:latin typeface="Noto Sans"/>
              </a:defRPr>
            </a:pPr>
            <a:r>
              <a:t>Фактические входы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15144" y="3685032"/>
            <a:ext cx="3828288" cy="2423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100" b="0">
                <a:solidFill>
                  <a:srgbClr val="AFBDC0"/>
                </a:solidFill>
                <a:latin typeface="Noto Sans"/>
              </a:defRPr>
            </a:pPr>
            <a:r>
              <a:t>Двигатель организаторов, массы, CG, метеопрофиль и направляющая.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7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00584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9728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8872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28016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716000" y="0"/>
            <a:ext cx="5486" cy="8229600"/>
          </a:xfrm>
          <a:prstGeom prst="rect">
            <a:avLst/>
          </a:prstGeom>
          <a:solidFill>
            <a:srgbClr val="1821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9319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AFBDC0"/>
                </a:solidFill>
                <a:latin typeface="Noto Sans"/>
              </a:defRPr>
            </a:pPr>
            <a:r>
              <a:t>ИСТОЧНИКИ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90120" y="3931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1">
                <a:solidFill>
                  <a:srgbClr val="FF793F"/>
                </a:solidFill>
                <a:latin typeface="Noto Sans"/>
              </a:defRPr>
            </a:pPr>
            <a:r>
              <a:t>PLBP / SG1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914400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1243584"/>
            <a:ext cx="1321308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3700" b="1">
                <a:solidFill>
                  <a:srgbClr val="F4F1E9"/>
                </a:solidFill>
                <a:latin typeface="Noto Sans"/>
              </a:defRPr>
            </a:pPr>
            <a:r>
              <a:t>Основания и допущения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8368" y="7159752"/>
            <a:ext cx="13313664" cy="10972"/>
          </a:xfrm>
          <a:prstGeom prst="rect">
            <a:avLst/>
          </a:prstGeom>
          <a:solidFill>
            <a:srgbClr val="35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7342631"/>
            <a:ext cx="12344400" cy="6217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AFBDC0"/>
                </a:solidFill>
                <a:latin typeface="Noto Sans"/>
              </a:defRPr>
            </a:pPr>
            <a:r>
              <a:t>Официальные документы ВИШ и источники расчётных данных. Проверено 30.09.2026.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121640" y="7507224"/>
            <a:ext cx="914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100" b="0">
                <a:solidFill>
                  <a:srgbClr val="FF793F"/>
                </a:solidFill>
                <a:latin typeface="Noto Sans"/>
              </a:defRPr>
            </a:pPr>
            <a:r>
              <a:t>21 / 21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8183879"/>
            <a:ext cx="14630400" cy="45720"/>
          </a:xfrm>
          <a:prstGeom prst="rect">
            <a:avLst/>
          </a:prstGeom>
          <a:solidFill>
            <a:srgbClr val="FF7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8368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86968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ВИШ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6968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Полное положение и приложения 1–7; ТЗ СГ.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3"/>
              </a:rPr>
              <a:t>https://aesa.tech/documentation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5504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04104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AeroTech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04104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Размеры, масса и график справочного двигателя.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04104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4"/>
              </a:rPr>
              <a:t>https://aerotech-rocketry.com/pages/catalogs-brochures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692640" y="2743200"/>
            <a:ext cx="4279392" cy="3474720"/>
          </a:xfrm>
          <a:prstGeom prst="rect">
            <a:avLst/>
          </a:prstGeom>
          <a:solidFill>
            <a:srgbClr val="1A24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21240" y="3017520"/>
            <a:ext cx="3822191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2500" b="1">
                <a:solidFill>
                  <a:srgbClr val="F4F1E9"/>
                </a:solidFill>
                <a:latin typeface="Noto Sans"/>
              </a:defRPr>
            </a:pPr>
            <a:r>
              <a:t>NASA / Barrowman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133087"/>
            <a:ext cx="382219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900" b="0">
                <a:solidFill>
                  <a:srgbClr val="AFBDC0"/>
                </a:solidFill>
                <a:latin typeface="Noto Sans"/>
              </a:defRPr>
            </a:pPr>
            <a:r>
              <a:t>Метод линейной оценки и ограничения применимости.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5504688"/>
            <a:ext cx="3822191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  <a:defRPr sz="1200" b="0">
                <a:solidFill>
                  <a:srgbClr val="FF793F"/>
                </a:solidFill>
                <a:latin typeface="Noto Sans"/>
              </a:defRPr>
            </a:pPr>
            <a:r>
              <a:rPr>
                <a:hlinkClick r:id="rId5"/>
              </a:rPr>
              <a:t>https://ntrs.nasa.gov/citations/20010047838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FF9D73"/>
      </a:hlink>
      <a:folHlink>
        <a:srgbClr val="FF9D73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PLBP-SG1 A04 — проектирование ракеты «Супер ГИРД»</dc:title>
  <dc:subject>Предварительная CAD-компоновка, расчёты и план проверки</dc:subject>
  <dc:creator>Команда PLBP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