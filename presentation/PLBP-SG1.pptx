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esa.tech/documentation" TargetMode="External"/><Relationship Id="rId4" Type="http://schemas.openxmlformats.org/officeDocument/2006/relationships/hyperlink" Target="https://aerotech-rocketry.com/pages/catalogs-brochures" TargetMode="External"/><Relationship Id="rId5" Type="http://schemas.openxmlformats.org/officeDocument/2006/relationships/hyperlink" Target="https://ntrs.nasa.gov/citations/2001004783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ПРЕДВАРИТЕЛЬНОЕ ПРОЕКТИРОВАНИЕ / A04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Ревизия A04 · 30 сентября 2026 · цифровой прототип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01 / 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183879"/>
            <a:ext cx="585216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103120"/>
            <a:ext cx="9601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8700" b="1">
                <a:solidFill>
                  <a:srgbClr val="F4F1E9"/>
                </a:solidFill>
                <a:latin typeface="Noto Sans"/>
              </a:defRPr>
            </a:pPr>
            <a:r>
              <a:t>PLBP–SG1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5876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000" b="0">
                <a:solidFill>
                  <a:srgbClr val="F4F1E9"/>
                </a:solidFill>
                <a:latin typeface="Noto Sans"/>
              </a:defRPr>
            </a:pPr>
            <a:r>
              <a:t>Ракета для лиги «Супер ГИРД»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321808"/>
            <a:ext cx="36576" cy="69494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340096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400" b="0">
                <a:solidFill>
                  <a:srgbClr val="AFBDC0"/>
                </a:solidFill>
                <a:latin typeface="Noto Sans"/>
              </a:defRPr>
            </a:pPr>
            <a:r>
              <a:t>1,5 кг полезной нагрузки. Проверяемый цифровой проект.</a:t>
            </a:r>
          </a:p>
        </p:txBody>
      </p:sp>
      <p:sp>
        <p:nvSpPr>
          <p:cNvPr id="28" name="Oval 27"/>
          <p:cNvSpPr/>
          <p:nvPr/>
        </p:nvSpPr>
        <p:spPr>
          <a:xfrm>
            <a:off x="10424160" y="2157984"/>
            <a:ext cx="3474720" cy="3474720"/>
          </a:xfrm>
          <a:prstGeom prst="ellipse">
            <a:avLst/>
          </a:prstGeom>
          <a:noFill/>
          <a:ln w="8890">
            <a:solidFill>
              <a:srgbClr val="354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00232" y="2734056"/>
            <a:ext cx="2322576" cy="2322576"/>
          </a:xfrm>
          <a:prstGeom prst="ellipse">
            <a:avLst/>
          </a:prstGeom>
          <a:noFill/>
          <a:ln w="8890">
            <a:solidFill>
              <a:srgbClr val="354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3877056"/>
            <a:ext cx="4206240" cy="10972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152376" y="1810512"/>
            <a:ext cx="10972" cy="420624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137392" y="3593592"/>
            <a:ext cx="2048256" cy="640080"/>
          </a:xfrm>
          <a:prstGeom prst="rect">
            <a:avLst/>
          </a:prstGeom>
          <a:solidFill>
            <a:srgbClr val="10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36850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600" b="1">
                <a:solidFill>
                  <a:srgbClr val="FF793F"/>
                </a:solidFill>
                <a:latin typeface="Noto Sans"/>
              </a:defRPr>
            </a:pPr>
            <a:r>
              <a:t>SG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01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Три результата одного полёта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Конкурсная база: XV сезон 2025–2026. Условия нового сезона предстоит подтвердить.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02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170432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≥ 1 км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Выведение макета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Порог из опубликованного ТЗ XV сезона.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5504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Возврат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Носитель и макет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Отдельная проверка каждой системы спасения.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Данные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Борт + земля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Измерения, события и сопоставление журналов.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02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Макет — это полезная нагрузка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Расхождение источников открыто. Габарит макета 1,5 кг требует подтверждения.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03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755648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1,5 кг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Основной проектный вариант по странице чемпионата ВИШ.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1,0 кг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В опубликованном PDF XV: Ø84×220 вместе с парашютом.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Без лимита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Масса самой ракеты не ограничена: ТЗ, п. 1.1.1.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03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Первая параметрическая ракета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FreeCAD A04 · длина 1,57 м · корпус Ø100 мм · три неподвижных стабилизатора.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04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2340864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d-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94" y="2395728"/>
            <a:ext cx="11833411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04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Внутренние объёмы уже размещены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Корпус скрыт для просмотра. Электроника и парашют представлены условными габаритами.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05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2926080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d-cut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94" y="2395728"/>
            <a:ext cx="11833411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05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Размеры и интерфейсы зафиксированы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Компоновочная схема A04. Рабочие чертежи с допусками и силовыми соединениями ещё не выпущены.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06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3511296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395728"/>
            <a:ext cx="90525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06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Центровка с нагрузкой 1,5 кг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CP зависит от скорости и угла атаки. Ручная низкоскоростная оценка: 1169 мм.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07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4096512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CG: 940 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Центр массы старта от вершины.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CP: 1169 мм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OpenRocket: M=0,05; угол атаки 0°.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Запас: 2,285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Статическая оценка; флаттер не проверен.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07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1D: влияние принятого Cd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Основной макет 1,5 кг: 1,24–1,66 км при трёх принятых Cd. Это расчётная оценка.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08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4681728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s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395728"/>
            <a:ext cx="965606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OPENROCKET / OR01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OpenRocket: пять тестовых сценариев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Штиль: 1514 м. Ветер и направляющая — тестовые; расчёт заканчивается у апогея.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09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5266944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or-f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2395728"/>
            <a:ext cx="117348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OPENROCKET / OR01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Центровка и давление в полёте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CG: 940 → 874 мм. Max q: 26,48 кПа. Карта давлений и прочность ещё не рассчитаны.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10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5852160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or-balance-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2395728"/>
            <a:ext cx="117348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OPENROCKET / OR01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Модель можно открыть и пересчитать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Шестистепенная модель жёсткого тела. Расчётная воспроизводимость не равна подтверждению полётом.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11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6437376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.ork + .rse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OpenRocket 24.12. Пять сохранённых сценариев, штатная остановка на апогее.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Проверка переноса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Масса и CG совпали с CAD. Проверены повторная загрузка и уменьшение шага.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Следующий шаг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Реальные массы, двигатель, ветер, направляющая; разработка отделения и спасения.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08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Модульная конструкция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A04: последовательность отсеков задана. Крепления, разделение и обслуживание требуют разработки.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12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7022592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697480"/>
            <a:ext cx="6565392" cy="1627632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697480"/>
            <a:ext cx="36576" cy="1627632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035808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2971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Учебный макет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3602736"/>
            <a:ext cx="49560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Собственная система спасения.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2697480"/>
            <a:ext cx="6565392" cy="1627632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2697480"/>
            <a:ext cx="36576" cy="1627632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035808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971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Возврат носителя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602736"/>
            <a:ext cx="49560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Спасение и обслуживаемые крепления.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544568"/>
            <a:ext cx="6565392" cy="1627632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544568"/>
            <a:ext cx="36576" cy="1627632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882896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8" y="4818888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Бортовая система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5449824"/>
            <a:ext cx="49560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Измерения, запись, радио, самописец.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4544568"/>
            <a:ext cx="6565392" cy="1627632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4544568"/>
            <a:ext cx="36576" cy="1627632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4882896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818888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Двигательный модуль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5449824"/>
            <a:ext cx="49560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Справочный интерфейс Ø54 × 358 мм.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09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Масса базовой компоновки A04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Историческая база. Текущий вариант E02: 5,932 кг с полезной нагрузкой 1,5 кг.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13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7607808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788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700" b="1">
                <a:solidFill>
                  <a:srgbClr val="F4F1E9"/>
                </a:solidFill>
                <a:latin typeface="Noto Sans"/>
              </a:defRPr>
            </a:pPr>
            <a:r>
              <a:t>Контрольный макет 1,0 кг — PDF ТЗ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63347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5,287 кг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47872"/>
            <a:ext cx="13167360" cy="310896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547872"/>
            <a:ext cx="11602638" cy="310896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000" b="0">
                <a:solidFill>
                  <a:srgbClr val="AFBDC0"/>
                </a:solidFill>
                <a:latin typeface="Noto Sans"/>
              </a:defRPr>
            </a:pPr>
            <a:r>
              <a:t>Полная стартовая масса; лимит по ТЗ не установлен.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700" b="1">
                <a:solidFill>
                  <a:srgbClr val="F4F1E9"/>
                </a:solidFill>
                <a:latin typeface="Noto Sans"/>
              </a:defRPr>
            </a:pPr>
            <a:r>
              <a:t>Основной макет 1,5 кг — проект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55371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000" b="1">
                <a:solidFill>
                  <a:srgbClr val="FF793F"/>
                </a:solidFill>
                <a:latin typeface="Noto Sans"/>
              </a:defRPr>
            </a:pPr>
            <a:r>
              <a:t>5,787 кг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468112"/>
            <a:ext cx="13167360" cy="310896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468112"/>
            <a:ext cx="12699918" cy="310896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000" b="0">
                <a:solidFill>
                  <a:srgbClr val="AFBDC0"/>
                </a:solidFill>
                <a:latin typeface="Noto Sans"/>
              </a:defRPr>
            </a:pPr>
            <a:r>
              <a:t>Полная стартовая масса; лимит по ТЗ не установлен.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10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Материалы и честное облегчение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MassAudit и просмотрщик раскрывают каждую массу. Подтверждённая экономия без потерь: 0 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14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8193024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Стеклопластик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1850 кг/м³ — принятая плотность. Марка и укладка открыты.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Полимер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1270 кг/м³ — допущение для обтекателя.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−630 г условно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Варианты стенок, материала и плат; без проверки не применены.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11 / РЕЗУЛЬТАТЫ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Что подтверждено на этой итерации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24 тела; стабилизаторы видны после повторного открытия в FreeCAD. Физических испытаний нет.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15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8778240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6542532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6542532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608533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Сделано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608533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CAD A04, материалы, STEP и просмотр.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GUI, ведомость и предварительные расчёты.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2743200"/>
            <a:ext cx="6542532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29500" y="2743200"/>
            <a:ext cx="6542532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8100" y="2971800"/>
            <a:ext cx="608533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Открыто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8100" y="3685032"/>
            <a:ext cx="608533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Рабочие соединения и компоненты.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Прочность, стенды и полёт.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OR02 / E01 · ИССЛЕДОВАНИЕ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Что влияет на расчётную высоту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OR02: 15 тестовых случаев, включая базу. Диапазоны допущений не являются вероятностными границами.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16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9363456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or02-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81" y="2395728"/>
            <a:ext cx="8923237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OR02 / E01 · ИССЛЕДОВАНИЕ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Предыдущий вариант E01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Прибавка к A04: 51,9 г. Проверены геометрия и зазоры; прочность и удержание ещё не испытаны.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17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9948672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01-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2" y="2395728"/>
            <a:ext cx="84867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OR02 / E01 · ИССЛЕДОВАНИЕ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Самописец: защита и воздух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Полость 87×33×21 мм; максимальный прибор 85×31×19 мм. Ленты, прокладки и проводка ещё не выбраны.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18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0533888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01-under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2" y="2395728"/>
            <a:ext cx="84867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OR02 / E01 · ИССЛЕДОВАНИЕ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Измерению давления нужен стенд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τ = 0,02 / 0,1 / 0,5 с — допущения для сравнения, не измеренные характеристики самописца.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19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1119104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ressure-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19" y="2395728"/>
            <a:ext cx="115671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OR02 / E01 · ИССЛЕДОВАНИЕ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Следующие узлы определены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Текущая компоновка E02 и миссия M01 показаны далее; испытания остаются отдельным этапом.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20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1704320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Обслуживание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Спроектировать стыки корпуса и доступ к лотку.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Удержание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Закрыть крепления платы, батарей и блока спасения; затем стенд.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Данные запуска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Получить двигатель организаторов, реальные массы, ветер и направляющую.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E02 / M01 / OR03 · 01.10.2026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Внутренние узлы E02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55 тел без пересечений. Материалы и массы сохранены. Соединения и прочность требуют испытаний.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21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2289536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02-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2" y="2395728"/>
            <a:ext cx="84867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E02 / M01 / OR03 · 01.10.2026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Миссия M01: независимый поиск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Собственная батарея. Посадка не определяется; поиск начинается по таймеру. Программа прошла 17 проверок.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22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2874752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01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977" y="2395728"/>
            <a:ext cx="1041044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E02 / M01 / OR03 · 01.10.2026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M01: от программы к стенду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RP2040, излучатель и отдельная кассета. Аппаратных испытаний ещё нет.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23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3459968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Цель миссии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Звук для ближнего поиска. Проверить 10 м, затем целевые 25 м.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456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72456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1056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Питание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1056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LiPo 1200 мА·ч. Цель — 6 ч от включения; токи расчётные.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6544" y="2743200"/>
            <a:ext cx="4285488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86544" y="2743200"/>
            <a:ext cx="4285488" cy="32004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5144" y="2971800"/>
            <a:ext cx="38282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Открытая проверка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144" y="3685032"/>
            <a:ext cx="3828288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AFBDC0"/>
                </a:solidFill>
                <a:latin typeface="Noto Sans"/>
              </a:defRPr>
            </a:pPr>
            <a:r>
              <a:t>Звук через корпус, помехи самописцу и критерий зачёта.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E02 / M01 / OR03 · 01.10.2026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E02 в расчёте OpenRocket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OR03: масса и CG сверены с CAD, сохранённая модель повторно открыта и пересчитана. Физической валидации нет.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24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4045184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5,932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кг на старте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Макет 1,5 кг; +144,7 г к A04.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5504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1488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м над стартом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Тестовый K535W, штиль, направляющая 4 м.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743200"/>
            <a:ext cx="4279392" cy="3511296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3090672"/>
            <a:ext cx="376732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4800" b="1">
                <a:solidFill>
                  <a:srgbClr val="FF793F"/>
                </a:solidFill>
                <a:latin typeface="Noto Sans"/>
              </a:defRPr>
            </a:pPr>
            <a:r>
              <a:t>25,286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4480560"/>
            <a:ext cx="3767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F4F1E9"/>
                </a:solidFill>
                <a:latin typeface="Noto Sans"/>
              </a:defRPr>
            </a:pPr>
            <a:r>
              <a:t>кПа / max 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5257800"/>
            <a:ext cx="37673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AFBDC0"/>
                </a:solidFill>
                <a:latin typeface="Noto Sans"/>
              </a:defRPr>
            </a:pPr>
            <a:r>
              <a:t>Расчёт до апогея; без спасения и посадки.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0" y="0"/>
            <a:ext cx="5486" cy="8229600"/>
          </a:xfrm>
          <a:prstGeom prst="rect">
            <a:avLst/>
          </a:prstGeom>
          <a:solidFill>
            <a:srgbClr val="18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AFBDC0"/>
                </a:solidFill>
                <a:latin typeface="Noto Sans"/>
              </a:defRPr>
            </a:pPr>
            <a:r>
              <a:t>ИСТОЧНИКИ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9012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1">
                <a:solidFill>
                  <a:srgbClr val="FF793F"/>
                </a:solidFill>
                <a:latin typeface="Noto Sans"/>
              </a:defRPr>
            </a:pPr>
            <a:r>
              <a:t>PLBP / SG1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914400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243584"/>
            <a:ext cx="13213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3700" b="1">
                <a:solidFill>
                  <a:srgbClr val="F4F1E9"/>
                </a:solidFill>
                <a:latin typeface="Noto Sans"/>
              </a:defRPr>
            </a:pPr>
            <a:r>
              <a:t>Основания и допущения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7159752"/>
            <a:ext cx="13313664" cy="10972"/>
          </a:xfrm>
          <a:prstGeom prst="rect">
            <a:avLst/>
          </a:prstGeom>
          <a:solidFill>
            <a:srgbClr val="35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342631"/>
            <a:ext cx="1234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AFBDC0"/>
                </a:solidFill>
                <a:latin typeface="Noto Sans"/>
              </a:defRPr>
            </a:pPr>
            <a:r>
              <a:t>Официальные документы ВИШ и источники расчётных данных. Проверено 30.09.2026.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1640" y="75072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100" b="0">
                <a:solidFill>
                  <a:srgbClr val="FF793F"/>
                </a:solidFill>
                <a:latin typeface="Noto Sans"/>
              </a:defRPr>
            </a:pPr>
            <a:r>
              <a:t>25 / 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183879"/>
            <a:ext cx="14630400" cy="45720"/>
          </a:xfrm>
          <a:prstGeom prst="rect">
            <a:avLst/>
          </a:prstGeom>
          <a:solidFill>
            <a:srgbClr val="FF7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743200"/>
            <a:ext cx="4279392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017520"/>
            <a:ext cx="38221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F4F1E9"/>
                </a:solidFill>
                <a:latin typeface="Noto Sans"/>
              </a:defRPr>
            </a:pPr>
            <a:r>
              <a:t>ВИШ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133087"/>
            <a:ext cx="38221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AFBDC0"/>
                </a:solidFill>
                <a:latin typeface="Noto Sans"/>
              </a:defRPr>
            </a:pPr>
            <a:r>
              <a:t>Полное положение и приложения 1–7; ТЗ СГ.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504688"/>
            <a:ext cx="382219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FF793F"/>
                </a:solidFill>
                <a:latin typeface="Noto Sans"/>
              </a:defRPr>
            </a:pPr>
            <a:r>
              <a:rPr>
                <a:hlinkClick r:id="rId3"/>
              </a:rPr>
              <a:t>https://aesa.tech/documentation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5504" y="2743200"/>
            <a:ext cx="4279392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4" y="3017520"/>
            <a:ext cx="38221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F4F1E9"/>
                </a:solidFill>
                <a:latin typeface="Noto Sans"/>
              </a:defRPr>
            </a:pPr>
            <a:r>
              <a:t>AeroTech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4104" y="4133087"/>
            <a:ext cx="38221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AFBDC0"/>
                </a:solidFill>
                <a:latin typeface="Noto Sans"/>
              </a:defRPr>
            </a:pPr>
            <a:r>
              <a:t>Размеры, масса и график справочного двигателя.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4104" y="5504688"/>
            <a:ext cx="382219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FF793F"/>
                </a:solidFill>
                <a:latin typeface="Noto Sans"/>
              </a:defRPr>
            </a:pPr>
            <a:r>
              <a:rPr>
                <a:hlinkClick r:id="rId4"/>
              </a:rPr>
              <a:t>https://aerotech-rocketry.com/pages/catalogs-brochures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743200"/>
            <a:ext cx="4279392" cy="3474720"/>
          </a:xfrm>
          <a:prstGeom prst="rect">
            <a:avLst/>
          </a:prstGeom>
          <a:solidFill>
            <a:srgbClr val="1A2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3017520"/>
            <a:ext cx="38221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F4F1E9"/>
                </a:solidFill>
                <a:latin typeface="Noto Sans"/>
              </a:defRPr>
            </a:pPr>
            <a:r>
              <a:t>NASA / Barrowman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133087"/>
            <a:ext cx="38221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AFBDC0"/>
                </a:solidFill>
                <a:latin typeface="Noto Sans"/>
              </a:defRPr>
            </a:pPr>
            <a:r>
              <a:t>Метод линейной оценки и ограничения применимости.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504688"/>
            <a:ext cx="382219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FF793F"/>
                </a:solidFill>
                <a:latin typeface="Noto Sans"/>
              </a:defRPr>
            </a:pPr>
            <a:r>
              <a:rPr>
                <a:hlinkClick r:id="rId5"/>
              </a:rPr>
              <a:t>https://ntrs.nasa.gov/citations/20010047838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9D73"/>
      </a:hlink>
      <a:folHlink>
        <a:srgbClr val="FF9D7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PLBP-SG1 A04 — проектирование ракеты «Супер ГИРД»</dc:title>
  <dc:subject>Предварительная CAD-компоновка, расчёты и план проверки</dc:subject>
  <dc:creator>Команда PLBP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